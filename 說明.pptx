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65" r:id="rId2"/>
    <p:sldId id="266" r:id="rId3"/>
    <p:sldId id="267" r:id="rId4"/>
    <p:sldId id="275" r:id="rId5"/>
    <p:sldId id="268" r:id="rId6"/>
    <p:sldId id="269" r:id="rId7"/>
    <p:sldId id="270" r:id="rId8"/>
    <p:sldId id="271" r:id="rId9"/>
    <p:sldId id="280" r:id="rId10"/>
    <p:sldId id="272" r:id="rId11"/>
    <p:sldId id="277" r:id="rId12"/>
    <p:sldId id="276" r:id="rId13"/>
    <p:sldId id="282" r:id="rId14"/>
    <p:sldId id="281" r:id="rId15"/>
    <p:sldId id="278" r:id="rId16"/>
    <p:sldId id="279" r:id="rId17"/>
    <p:sldId id="274" r:id="rId18"/>
    <p:sldId id="273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28" autoAdjust="0"/>
  </p:normalViewPr>
  <p:slideViewPr>
    <p:cSldViewPr>
      <p:cViewPr varScale="1">
        <p:scale>
          <a:sx n="76" d="100"/>
          <a:sy n="76" d="100"/>
        </p:scale>
        <p:origin x="-1642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7EE5B-9867-40BD-B575-27711E10F04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E6A31-7AAA-4F08-9957-29C082FE07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5073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B7A74B5-5872-44FC-8944-155D37035388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C4923DB-8723-4946-A7C3-09F10CAFBF60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作業報告</a:t>
            </a:r>
            <a:endParaRPr lang="zh-TW" altLang="en-US" dirty="0"/>
          </a:p>
        </p:txBody>
      </p:sp>
      <p:sp>
        <p:nvSpPr>
          <p:cNvPr id="8" name="副標題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空氣品質</a:t>
            </a:r>
            <a:r>
              <a:rPr lang="zh-TW" altLang="en-US" dirty="0" smtClean="0"/>
              <a:t>指標查詢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290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選取資料的</a:t>
            </a:r>
            <a:r>
              <a:rPr lang="zh-TW" altLang="en-US" dirty="0" smtClean="0"/>
              <a:t>動機和步驟</a:t>
            </a:r>
            <a:endParaRPr lang="zh-TW" altLang="en-US" dirty="0"/>
          </a:p>
        </p:txBody>
      </p:sp>
      <p:sp>
        <p:nvSpPr>
          <p:cNvPr id="12" name="內容版面配置區 4"/>
          <p:cNvSpPr txBox="1">
            <a:spLocks/>
          </p:cNvSpPr>
          <p:nvPr/>
        </p:nvSpPr>
        <p:spPr>
          <a:xfrm>
            <a:off x="683568" y="1484784"/>
            <a:ext cx="8064896" cy="3312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SzPct val="130000"/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SzPct val="130000"/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SzPct val="130000"/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SzPct val="130000"/>
              <a:buFontTx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SzPct val="130000"/>
              <a:buFontTx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MT"/>
              <a:ea typeface="新細明體"/>
              <a:cs typeface="+mn-cs"/>
            </a:endParaRPr>
          </a:p>
        </p:txBody>
      </p:sp>
      <p:sp>
        <p:nvSpPr>
          <p:cNvPr id="13" name="內容版面配置區 4"/>
          <p:cNvSpPr txBox="1">
            <a:spLocks/>
          </p:cNvSpPr>
          <p:nvPr/>
        </p:nvSpPr>
        <p:spPr>
          <a:xfrm>
            <a:off x="611560" y="1988840"/>
            <a:ext cx="7200800" cy="43204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SzPct val="130000"/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SzPct val="130000"/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SzPct val="130000"/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SzPct val="130000"/>
              <a:buFontTx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SzPct val="130000"/>
              <a:buFontTx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MT"/>
              <a:ea typeface="新細明體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新細明體"/>
              </a:rPr>
              <a:t>以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新細明體"/>
              </a:rPr>
              <a:t>業界最常用的</a:t>
            </a:r>
            <a:r>
              <a:rPr lang="en-US" altLang="zh-TW" sz="2000" dirty="0" smtClean="0">
                <a:solidFill>
                  <a:sysClr val="windowText" lastClr="000000"/>
                </a:solidFill>
                <a:latin typeface="Gill Sans MT"/>
                <a:ea typeface="新細明體"/>
              </a:rPr>
              <a:t>API</a:t>
            </a:r>
            <a:r>
              <a:rPr lang="zh-TW" altLang="en-US" sz="2000" dirty="0" smtClean="0">
                <a:solidFill>
                  <a:sysClr val="windowText" lastClr="000000"/>
                </a:solidFill>
                <a:latin typeface="Gill Sans MT"/>
                <a:ea typeface="新細明體"/>
              </a:rPr>
              <a:t>加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新細明體"/>
              </a:rPr>
              <a:t>J</a:t>
            </a:r>
            <a:r>
              <a:rPr lang="en-US" altLang="zh-TW" sz="2000" noProof="0" dirty="0" smtClean="0">
                <a:solidFill>
                  <a:sysClr val="windowText" lastClr="000000"/>
                </a:solidFill>
                <a:latin typeface="Gill Sans MT"/>
                <a:ea typeface="新細明體"/>
              </a:rPr>
              <a:t>SON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新細明體"/>
              </a:rPr>
              <a:t>資料做練習</a:t>
            </a: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MT"/>
              <a:ea typeface="新細明體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en-US" altLang="zh-TW" sz="2000" dirty="0">
              <a:solidFill>
                <a:sysClr val="windowText" lastClr="000000"/>
              </a:solidFill>
              <a:latin typeface="Gill Sans MT"/>
              <a:ea typeface="新細明體"/>
            </a:endParaRPr>
          </a:p>
          <a:p>
            <a:pPr lvl="0">
              <a:defRPr/>
            </a:pPr>
            <a:r>
              <a:rPr lang="zh-TW" altLang="en-US" sz="2000" dirty="0" smtClean="0">
                <a:solidFill>
                  <a:sysClr val="windowText" lastClr="000000"/>
                </a:solidFill>
                <a:latin typeface="Gill Sans MT"/>
              </a:rPr>
              <a:t>取得</a:t>
            </a:r>
            <a:r>
              <a:rPr lang="en-US" altLang="zh-TW" sz="2000" dirty="0" smtClean="0">
                <a:solidFill>
                  <a:sysClr val="windowText" lastClr="000000"/>
                </a:solidFill>
                <a:latin typeface="Gill Sans MT"/>
              </a:rPr>
              <a:t>API</a:t>
            </a:r>
            <a:r>
              <a:rPr lang="zh-TW" altLang="en-US" sz="2000" dirty="0" smtClean="0">
                <a:solidFill>
                  <a:sysClr val="windowText" lastClr="000000"/>
                </a:solidFill>
                <a:latin typeface="Gill Sans MT"/>
              </a:rPr>
              <a:t>儲存成本機加現在時間</a:t>
            </a:r>
            <a:r>
              <a:rPr lang="zh-TW" altLang="en-US" sz="2000" dirty="0">
                <a:solidFill>
                  <a:sysClr val="windowText" lastClr="000000"/>
                </a:solidFill>
                <a:latin typeface="Gill Sans MT"/>
              </a:rPr>
              <a:t>檔案</a:t>
            </a: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MT"/>
              <a:ea typeface="新細明體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en-US" altLang="zh-TW" sz="2000" dirty="0" smtClean="0">
              <a:solidFill>
                <a:sysClr val="windowText" lastClr="000000"/>
              </a:solidFill>
              <a:latin typeface="Gill Sans MT"/>
              <a:ea typeface="新細明體"/>
            </a:endParaRPr>
          </a:p>
          <a:p>
            <a:pPr lvl="0">
              <a:defRPr/>
            </a:pPr>
            <a:r>
              <a:rPr lang="zh-TW" altLang="en-US" sz="2000" dirty="0" smtClean="0">
                <a:solidFill>
                  <a:sysClr val="windowText" lastClr="000000"/>
                </a:solidFill>
                <a:latin typeface="Gill Sans MT"/>
              </a:rPr>
              <a:t>用關鍵字查當次</a:t>
            </a:r>
            <a:r>
              <a:rPr lang="en-US" altLang="zh-TW" sz="2000" dirty="0" smtClean="0">
                <a:solidFill>
                  <a:sysClr val="windowText" lastClr="000000"/>
                </a:solidFill>
                <a:latin typeface="Gill Sans MT"/>
              </a:rPr>
              <a:t>API</a:t>
            </a:r>
            <a:r>
              <a:rPr lang="zh-TW" altLang="en-US" sz="2000" dirty="0" smtClean="0">
                <a:solidFill>
                  <a:sysClr val="windowText" lastClr="000000"/>
                </a:solidFill>
                <a:latin typeface="Gill Sans MT"/>
              </a:rPr>
              <a:t>資料符合的</a:t>
            </a:r>
            <a:r>
              <a:rPr lang="zh-TW" altLang="en-US" sz="2000" dirty="0">
                <a:solidFill>
                  <a:sysClr val="windowText" lastClr="000000"/>
                </a:solidFill>
                <a:latin typeface="Gill Sans MT"/>
              </a:rPr>
              <a:t>資料</a:t>
            </a:r>
            <a:endParaRPr lang="en-US" altLang="zh-TW" sz="2000" dirty="0" smtClean="0">
              <a:solidFill>
                <a:sysClr val="windowText" lastClr="000000"/>
              </a:solidFill>
              <a:latin typeface="Gill Sans MT"/>
            </a:endParaRPr>
          </a:p>
          <a:p>
            <a:pPr lvl="0">
              <a:defRPr/>
            </a:pPr>
            <a:endParaRPr lang="en-US" altLang="zh-TW" sz="2000" dirty="0">
              <a:solidFill>
                <a:sysClr val="windowText" lastClr="000000"/>
              </a:solidFill>
              <a:latin typeface="Gill Sans MT"/>
              <a:ea typeface="新細明體"/>
            </a:endParaRPr>
          </a:p>
          <a:p>
            <a:pPr lvl="0">
              <a:defRPr/>
            </a:pPr>
            <a:r>
              <a:rPr lang="zh-TW" altLang="en-US" sz="2000" dirty="0" smtClean="0">
                <a:solidFill>
                  <a:sysClr val="windowText" lastClr="000000"/>
                </a:solidFill>
                <a:latin typeface="Gill Sans MT"/>
              </a:rPr>
              <a:t>用</a:t>
            </a:r>
            <a:r>
              <a:rPr lang="en-US" altLang="zh-TW" sz="2000" dirty="0" smtClean="0">
                <a:solidFill>
                  <a:sysClr val="windowText" lastClr="000000"/>
                </a:solidFill>
                <a:latin typeface="Gill Sans MT"/>
              </a:rPr>
              <a:t>AQI</a:t>
            </a:r>
            <a:r>
              <a:rPr lang="zh-TW" altLang="en-US" sz="2000" dirty="0" smtClean="0">
                <a:solidFill>
                  <a:sysClr val="windowText" lastClr="000000"/>
                </a:solidFill>
                <a:latin typeface="Gill Sans MT"/>
              </a:rPr>
              <a:t>最大最小值查</a:t>
            </a:r>
            <a:r>
              <a:rPr lang="zh-TW" altLang="en-US" sz="2000" dirty="0">
                <a:solidFill>
                  <a:sysClr val="windowText" lastClr="000000"/>
                </a:solidFill>
                <a:latin typeface="Gill Sans MT"/>
              </a:rPr>
              <a:t>當次</a:t>
            </a:r>
            <a:r>
              <a:rPr lang="en-US" altLang="zh-TW" sz="2000" dirty="0">
                <a:solidFill>
                  <a:sysClr val="windowText" lastClr="000000"/>
                </a:solidFill>
                <a:latin typeface="Gill Sans MT"/>
              </a:rPr>
              <a:t>API</a:t>
            </a:r>
            <a:r>
              <a:rPr lang="zh-TW" altLang="en-US" sz="2000" dirty="0">
                <a:solidFill>
                  <a:sysClr val="windowText" lastClr="000000"/>
                </a:solidFill>
                <a:latin typeface="Gill Sans MT"/>
              </a:rPr>
              <a:t>資料符合的資料</a:t>
            </a:r>
            <a:endParaRPr lang="en-US" altLang="zh-TW" sz="2000" dirty="0" smtClean="0">
              <a:solidFill>
                <a:sysClr val="windowText" lastClr="000000"/>
              </a:solidFill>
              <a:latin typeface="Gill Sans MT"/>
              <a:ea typeface="新細明體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en-US" altLang="zh-TW" sz="2000" dirty="0" smtClean="0">
              <a:solidFill>
                <a:sysClr val="windowText" lastClr="000000"/>
              </a:solidFill>
              <a:latin typeface="Gill Sans MT"/>
              <a:ea typeface="新細明體"/>
            </a:endParaRPr>
          </a:p>
          <a:p>
            <a:pPr>
              <a:defRPr/>
            </a:pPr>
            <a:r>
              <a:rPr lang="zh-TW" altLang="en-US" sz="2000" dirty="0" smtClean="0">
                <a:solidFill>
                  <a:sysClr val="windowText" lastClr="000000"/>
                </a:solidFill>
                <a:latin typeface="Gill Sans MT"/>
              </a:rPr>
              <a:t>一支定時執行程式呼叫</a:t>
            </a:r>
            <a:r>
              <a:rPr lang="en-US" altLang="zh-TW" sz="2000" dirty="0" smtClean="0">
                <a:solidFill>
                  <a:sysClr val="windowText" lastClr="000000"/>
                </a:solidFill>
                <a:latin typeface="Gill Sans MT"/>
              </a:rPr>
              <a:t>API</a:t>
            </a:r>
            <a:r>
              <a:rPr lang="zh-TW" altLang="en-US" sz="2000" dirty="0" smtClean="0">
                <a:solidFill>
                  <a:sysClr val="windowText" lastClr="000000"/>
                </a:solidFill>
                <a:latin typeface="Gill Sans MT"/>
              </a:rPr>
              <a:t>將資料寫入資料庫</a:t>
            </a:r>
            <a:endParaRPr lang="en-US" altLang="zh-TW" sz="2000" dirty="0">
              <a:solidFill>
                <a:sysClr val="windowText" lastClr="000000"/>
              </a:solidFill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en-US" altLang="zh-TW" sz="2000" dirty="0">
              <a:solidFill>
                <a:sysClr val="windowText" lastClr="000000"/>
              </a:solidFill>
              <a:latin typeface="Gill Sans MT"/>
              <a:ea typeface="新細明體"/>
            </a:endParaRPr>
          </a:p>
          <a:p>
            <a:pPr lvl="0">
              <a:defRPr/>
            </a:pP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新細明體"/>
              </a:rPr>
              <a:t>可查</a:t>
            </a:r>
            <a:r>
              <a:rPr lang="zh-TW" altLang="en-US" sz="2000" dirty="0">
                <a:solidFill>
                  <a:sysClr val="windowText" lastClr="000000"/>
                </a:solidFill>
                <a:latin typeface="Gill Sans MT"/>
              </a:rPr>
              <a:t>某地區空氣品質指標變化</a:t>
            </a: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MT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6645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資料來源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95536" y="1774557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https://data.epa.gov.tw/api/v1/aqx_p_432?limit=1000&amp;api_key=9be7b239-557b-4c10-9775-78cadfc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59" y="2564904"/>
            <a:ext cx="8381128" cy="395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703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資料來源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98" y="1988840"/>
            <a:ext cx="8748464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920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資料來源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88840"/>
            <a:ext cx="7344816" cy="4279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1988839"/>
            <a:ext cx="7994650" cy="4279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095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程式說明</a:t>
            </a:r>
            <a:r>
              <a:rPr lang="en-US" altLang="zh-TW" dirty="0" smtClean="0"/>
              <a:t>-</a:t>
            </a:r>
            <a:r>
              <a:rPr lang="zh-TW" altLang="en-US" dirty="0" smtClean="0"/>
              <a:t>套件</a:t>
            </a:r>
            <a:r>
              <a:rPr lang="en-US" altLang="zh-TW" dirty="0" smtClean="0"/>
              <a:t>,</a:t>
            </a:r>
            <a:r>
              <a:rPr lang="zh-TW" altLang="en-US" dirty="0" smtClean="0"/>
              <a:t>函</a:t>
            </a:r>
            <a:r>
              <a:rPr lang="zh-TW" altLang="en-US" dirty="0"/>
              <a:t>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916832"/>
            <a:ext cx="4041775" cy="444348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引入套件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圓點圖函</a:t>
            </a:r>
            <a:r>
              <a:rPr lang="zh-TW" altLang="en-US" dirty="0" smtClean="0"/>
              <a:t>式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折線圖</a:t>
            </a:r>
            <a:r>
              <a:rPr lang="zh-TW" altLang="en-US" dirty="0"/>
              <a:t>函</a:t>
            </a:r>
            <a:r>
              <a:rPr lang="zh-TW" altLang="en-US" dirty="0" smtClean="0"/>
              <a:t>式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長條圖函式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31" y="1916832"/>
            <a:ext cx="3698237" cy="4444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637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程式說明</a:t>
            </a:r>
            <a:r>
              <a:rPr lang="en-US" altLang="zh-TW" dirty="0" smtClean="0"/>
              <a:t>-</a:t>
            </a:r>
            <a:r>
              <a:rPr lang="zh-TW" altLang="en-US" dirty="0" smtClean="0"/>
              <a:t>取</a:t>
            </a:r>
            <a:r>
              <a:rPr lang="en-US" altLang="zh-TW" dirty="0" smtClean="0"/>
              <a:t>API,</a:t>
            </a:r>
            <a:r>
              <a:rPr lang="zh-TW" altLang="en-US" dirty="0" smtClean="0"/>
              <a:t>儲存</a:t>
            </a:r>
            <a:r>
              <a:rPr lang="en-US" altLang="zh-TW" dirty="0" smtClean="0"/>
              <a:t>JSON</a:t>
            </a:r>
            <a:r>
              <a:rPr lang="zh-TW" altLang="en-US" dirty="0" smtClean="0"/>
              <a:t>檔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988840"/>
            <a:ext cx="4041775" cy="4371480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主程式區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用</a:t>
            </a:r>
            <a:r>
              <a:rPr lang="en-US" altLang="zh-TW" dirty="0" smtClean="0"/>
              <a:t>API </a:t>
            </a:r>
            <a:r>
              <a:rPr lang="en-US" altLang="zh-TW" dirty="0" err="1" smtClean="0"/>
              <a:t>url</a:t>
            </a:r>
            <a:r>
              <a:rPr lang="zh-TW" altLang="en-US" dirty="0" smtClean="0"/>
              <a:t>取回</a:t>
            </a:r>
            <a:r>
              <a:rPr lang="en-US" altLang="zh-TW" dirty="0" err="1" smtClean="0"/>
              <a:t>json</a:t>
            </a:r>
            <a:r>
              <a:rPr lang="zh-TW" altLang="en-US" dirty="0" smtClean="0"/>
              <a:t>內容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b="1" dirty="0" smtClean="0"/>
          </a:p>
          <a:p>
            <a:pPr marL="0" indent="0">
              <a:buNone/>
            </a:pPr>
            <a:r>
              <a:rPr lang="zh-TW" altLang="en-US" dirty="0"/>
              <a:t>將</a:t>
            </a:r>
            <a:r>
              <a:rPr lang="en-US" altLang="zh-TW" dirty="0"/>
              <a:t>JSON</a:t>
            </a:r>
            <a:r>
              <a:rPr lang="zh-TW" altLang="en-US" dirty="0"/>
              <a:t>進行</a:t>
            </a:r>
            <a:r>
              <a:rPr lang="en-US" altLang="zh-TW" dirty="0"/>
              <a:t>UTF-8</a:t>
            </a:r>
            <a:r>
              <a:rPr lang="zh-TW" altLang="en-US" dirty="0"/>
              <a:t>的</a:t>
            </a:r>
            <a:r>
              <a:rPr lang="en-US" altLang="zh-TW" dirty="0"/>
              <a:t>BOM</a:t>
            </a:r>
            <a:r>
              <a:rPr lang="zh-TW" altLang="en-US" dirty="0"/>
              <a:t>解碼，並把解碼後的資料載入</a:t>
            </a:r>
            <a:r>
              <a:rPr lang="en-US" altLang="zh-TW" dirty="0"/>
              <a:t>JSON</a:t>
            </a:r>
            <a:r>
              <a:rPr lang="zh-TW" altLang="en-US" dirty="0"/>
              <a:t>陣列</a:t>
            </a:r>
            <a:r>
              <a:rPr lang="zh-TW" altLang="en-US" dirty="0" smtClean="0"/>
              <a:t>中</a:t>
            </a:r>
            <a:endParaRPr lang="en-US" altLang="zh-TW" dirty="0" smtClean="0"/>
          </a:p>
          <a:p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儲存成</a:t>
            </a:r>
            <a:r>
              <a:rPr lang="en-US" altLang="zh-TW" dirty="0"/>
              <a:t>local </a:t>
            </a:r>
            <a:r>
              <a:rPr lang="en-US" altLang="zh-TW" dirty="0" err="1"/>
              <a:t>json</a:t>
            </a:r>
            <a:r>
              <a:rPr lang="zh-TW" altLang="en-US" dirty="0"/>
              <a:t>檔</a:t>
            </a:r>
            <a:r>
              <a:rPr lang="en-US" altLang="zh-TW" dirty="0"/>
              <a:t>,</a:t>
            </a:r>
            <a:r>
              <a:rPr lang="zh-TW" altLang="en-US" dirty="0"/>
              <a:t>檔名加上</a:t>
            </a:r>
            <a:r>
              <a:rPr lang="zh-TW" altLang="en-US" dirty="0" smtClean="0"/>
              <a:t>儲存時間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中文標籤</a:t>
            </a:r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60848"/>
            <a:ext cx="4040188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563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程式說明</a:t>
            </a:r>
            <a:r>
              <a:rPr lang="en-US" altLang="zh-TW" dirty="0" smtClean="0"/>
              <a:t>-</a:t>
            </a:r>
            <a:r>
              <a:rPr lang="zh-TW" altLang="en-US" dirty="0" smtClean="0"/>
              <a:t>關鍵字</a:t>
            </a:r>
            <a:r>
              <a:rPr lang="en-US" altLang="zh-TW" dirty="0" smtClean="0"/>
              <a:t>,</a:t>
            </a:r>
            <a:r>
              <a:rPr lang="zh-TW" altLang="en-US" dirty="0" smtClean="0"/>
              <a:t>範圍查詢</a:t>
            </a:r>
            <a:endParaRPr lang="zh-TW" altLang="en-US" dirty="0"/>
          </a:p>
        </p:txBody>
      </p:sp>
      <p:sp>
        <p:nvSpPr>
          <p:cNvPr id="4" name="內容版面配置區 5"/>
          <p:cNvSpPr txBox="1">
            <a:spLocks/>
          </p:cNvSpPr>
          <p:nvPr/>
        </p:nvSpPr>
        <p:spPr>
          <a:xfrm>
            <a:off x="4644008" y="1988840"/>
            <a:ext cx="4041775" cy="4644008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輸入地區關鍵字查符合的觀測站空氣</a:t>
            </a:r>
            <a:r>
              <a:rPr lang="zh-TW" altLang="en-US" dirty="0" smtClean="0"/>
              <a:t>品質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建立和</a:t>
            </a:r>
            <a:r>
              <a:rPr lang="en-US" altLang="zh-TW" dirty="0"/>
              <a:t>append </a:t>
            </a:r>
            <a:r>
              <a:rPr lang="en-US" altLang="zh-TW" dirty="0" smtClean="0"/>
              <a:t>_key list</a:t>
            </a:r>
          </a:p>
          <a:p>
            <a:pPr marL="0" indent="0">
              <a:buNone/>
            </a:pPr>
            <a:endParaRPr lang="en-US" altLang="zh-TW" b="1" dirty="0" smtClean="0"/>
          </a:p>
          <a:p>
            <a:pPr marL="0" indent="0">
              <a:buNone/>
            </a:pPr>
            <a:r>
              <a:rPr lang="zh-TW" altLang="en-US" dirty="0"/>
              <a:t>搜尋範圍 輸入最小值</a:t>
            </a:r>
            <a:r>
              <a:rPr lang="en-US" altLang="zh-TW" dirty="0"/>
              <a:t>,</a:t>
            </a:r>
            <a:r>
              <a:rPr lang="zh-TW" altLang="en-US" dirty="0"/>
              <a:t>最大值 找出符合的</a:t>
            </a:r>
            <a:r>
              <a:rPr lang="zh-TW" altLang="en-US" dirty="0" smtClean="0"/>
              <a:t>資料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建立和</a:t>
            </a:r>
            <a:r>
              <a:rPr lang="en-US" altLang="zh-TW" dirty="0"/>
              <a:t>append </a:t>
            </a:r>
            <a:r>
              <a:rPr lang="en-US" altLang="zh-TW" dirty="0" smtClean="0"/>
              <a:t>_range list</a:t>
            </a: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使用</a:t>
            </a:r>
            <a:r>
              <a:rPr lang="en-US" altLang="zh-TW" dirty="0" smtClean="0"/>
              <a:t>2</a:t>
            </a:r>
            <a:r>
              <a:rPr lang="zh-TW" altLang="en-US" dirty="0" smtClean="0"/>
              <a:t>個</a:t>
            </a:r>
            <a:r>
              <a:rPr lang="en-US" altLang="zh-TW" dirty="0" smtClean="0"/>
              <a:t>list</a:t>
            </a:r>
            <a:r>
              <a:rPr lang="zh-TW" altLang="en-US" dirty="0" smtClean="0"/>
              <a:t>建立</a:t>
            </a:r>
            <a:r>
              <a:rPr lang="en-US" altLang="zh-TW" dirty="0"/>
              <a:t>dictionary</a:t>
            </a:r>
          </a:p>
          <a:p>
            <a:pPr marL="0" indent="0">
              <a:buNone/>
            </a:pPr>
            <a:r>
              <a:rPr lang="zh-TW" altLang="en-US" dirty="0" smtClean="0"/>
              <a:t>使用</a:t>
            </a:r>
            <a:r>
              <a:rPr lang="en-US" altLang="zh-TW" dirty="0"/>
              <a:t>2</a:t>
            </a:r>
            <a:r>
              <a:rPr lang="zh-TW" altLang="en-US" dirty="0"/>
              <a:t>個</a:t>
            </a:r>
            <a:r>
              <a:rPr lang="en-US" altLang="zh-TW" dirty="0" smtClean="0"/>
              <a:t>list</a:t>
            </a:r>
            <a:r>
              <a:rPr lang="zh-TW" altLang="en-US" dirty="0"/>
              <a:t>建立</a:t>
            </a:r>
            <a:r>
              <a:rPr lang="en-US" altLang="zh-TW" dirty="0" err="1" smtClean="0"/>
              <a:t>DataFrame</a:t>
            </a:r>
            <a:endParaRPr lang="en-US" altLang="zh-TW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2060848"/>
            <a:ext cx="4392488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907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程式說明</a:t>
            </a:r>
            <a:r>
              <a:rPr lang="en-US" altLang="zh-TW" dirty="0" smtClean="0"/>
              <a:t>-</a:t>
            </a:r>
            <a:r>
              <a:rPr lang="zh-TW" altLang="en-US" dirty="0"/>
              <a:t>呼叫</a:t>
            </a:r>
            <a:r>
              <a:rPr lang="zh-TW" altLang="en-US" dirty="0" smtClean="0"/>
              <a:t>函式</a:t>
            </a:r>
            <a:r>
              <a:rPr lang="en-US" altLang="zh-TW" dirty="0" smtClean="0"/>
              <a:t>,</a:t>
            </a:r>
            <a:r>
              <a:rPr lang="zh-TW" altLang="en-US" dirty="0" smtClean="0"/>
              <a:t>子圖表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76872"/>
            <a:ext cx="5256584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內容版面配置區 5"/>
          <p:cNvSpPr txBox="1">
            <a:spLocks/>
          </p:cNvSpPr>
          <p:nvPr/>
        </p:nvSpPr>
        <p:spPr>
          <a:xfrm>
            <a:off x="5580112" y="2132856"/>
            <a:ext cx="3322763" cy="4248472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呼叫圓點圖函</a:t>
            </a:r>
            <a:r>
              <a:rPr lang="zh-TW" altLang="en-US" dirty="0" smtClean="0"/>
              <a:t>式</a:t>
            </a:r>
            <a:r>
              <a:rPr lang="en-US" altLang="zh-TW" dirty="0" smtClean="0"/>
              <a:t>,</a:t>
            </a:r>
            <a:r>
              <a:rPr lang="zh-TW" altLang="en-US" dirty="0"/>
              <a:t>子</a:t>
            </a:r>
            <a:r>
              <a:rPr lang="zh-TW" altLang="en-US" dirty="0" smtClean="0"/>
              <a:t>圖表方式呈現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呼叫折線圖函</a:t>
            </a:r>
            <a:r>
              <a:rPr lang="zh-TW" altLang="en-US" dirty="0" smtClean="0"/>
              <a:t>式</a:t>
            </a:r>
            <a:r>
              <a:rPr lang="en-US" altLang="zh-TW" dirty="0"/>
              <a:t>,</a:t>
            </a:r>
            <a:r>
              <a:rPr lang="zh-TW" altLang="en-US" dirty="0"/>
              <a:t>子圖表方式</a:t>
            </a:r>
            <a:r>
              <a:rPr lang="zh-TW" altLang="en-US" dirty="0" smtClean="0"/>
              <a:t>呈現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叫長條圖函</a:t>
            </a:r>
            <a:r>
              <a:rPr lang="zh-TW" altLang="en-US" dirty="0" smtClean="0"/>
              <a:t>式</a:t>
            </a:r>
            <a:r>
              <a:rPr lang="en-US" altLang="zh-TW" dirty="0"/>
              <a:t>,</a:t>
            </a:r>
            <a:r>
              <a:rPr lang="zh-TW" altLang="en-US" dirty="0"/>
              <a:t>子圖表方式呈現</a:t>
            </a: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73655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程式圖表</a:t>
            </a:r>
            <a:r>
              <a:rPr lang="zh-TW" altLang="en-US" dirty="0" smtClean="0"/>
              <a:t>說明</a:t>
            </a:r>
            <a:r>
              <a:rPr lang="en-US" altLang="zh-TW" dirty="0" smtClean="0"/>
              <a:t>-</a:t>
            </a:r>
            <a:r>
              <a:rPr lang="zh-TW" altLang="en-US" dirty="0"/>
              <a:t>圓點圖</a:t>
            </a: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88840"/>
            <a:ext cx="7920880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567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程式圖表</a:t>
            </a:r>
            <a:r>
              <a:rPr lang="zh-TW" altLang="en-US" dirty="0" smtClean="0"/>
              <a:t>說明</a:t>
            </a:r>
            <a:r>
              <a:rPr lang="en-US" altLang="zh-TW" dirty="0" smtClean="0"/>
              <a:t>-</a:t>
            </a:r>
            <a:r>
              <a:rPr lang="zh-TW" altLang="en-US" dirty="0"/>
              <a:t>折線圖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60848"/>
            <a:ext cx="8208912" cy="438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944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程式圖表</a:t>
            </a:r>
            <a:r>
              <a:rPr lang="zh-TW" altLang="en-US" dirty="0" smtClean="0"/>
              <a:t>說明</a:t>
            </a:r>
            <a:r>
              <a:rPr lang="en-US" altLang="zh-TW" dirty="0" smtClean="0"/>
              <a:t>-</a:t>
            </a:r>
            <a:r>
              <a:rPr lang="zh-TW" altLang="en-US" dirty="0" smtClean="0"/>
              <a:t>長</a:t>
            </a:r>
            <a:r>
              <a:rPr lang="zh-TW" altLang="en-US" dirty="0"/>
              <a:t>條圖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60847"/>
            <a:ext cx="7778750" cy="432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303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程式說明</a:t>
            </a:r>
            <a:r>
              <a:rPr lang="en-US" altLang="zh-TW" dirty="0" smtClean="0"/>
              <a:t>-</a:t>
            </a:r>
            <a:r>
              <a:rPr lang="en-US" altLang="zh-TW" dirty="0" err="1" smtClean="0"/>
              <a:t>APScheduler</a:t>
            </a:r>
            <a:endParaRPr lang="zh-TW" altLang="en-US" dirty="0"/>
          </a:p>
        </p:txBody>
      </p:sp>
      <p:sp>
        <p:nvSpPr>
          <p:cNvPr id="4" name="內容版面配置區 5"/>
          <p:cNvSpPr txBox="1">
            <a:spLocks/>
          </p:cNvSpPr>
          <p:nvPr/>
        </p:nvSpPr>
        <p:spPr>
          <a:xfrm>
            <a:off x="5940152" y="1916832"/>
            <a:ext cx="3105672" cy="4739134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 smtClean="0"/>
              <a:t>安裝</a:t>
            </a:r>
            <a:r>
              <a:rPr lang="en-US" altLang="zh-TW" dirty="0" err="1" smtClean="0"/>
              <a:t>APScheduler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Import </a:t>
            </a:r>
            <a:r>
              <a:rPr lang="en-US" altLang="zh-TW" dirty="0" err="1"/>
              <a:t>apscheduler</a:t>
            </a:r>
            <a:endParaRPr lang="zh-TW" altLang="en-US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自動化排程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隔一段時間執行一次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 smtClean="0"/>
              <a:t>每天</a:t>
            </a:r>
            <a:r>
              <a:rPr lang="zh-TW" altLang="en-US" dirty="0"/>
              <a:t>固定</a:t>
            </a:r>
            <a:r>
              <a:rPr lang="zh-TW" altLang="en-US" dirty="0" smtClean="0"/>
              <a:t>時間</a:t>
            </a:r>
            <a:r>
              <a:rPr lang="zh-TW" altLang="en-US" dirty="0"/>
              <a:t>執行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匯入之資料</a:t>
            </a:r>
            <a:endParaRPr lang="en-US" altLang="zh-TW" dirty="0" smtClean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469210"/>
            <a:ext cx="42100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058516"/>
            <a:ext cx="5514975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130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程式說明</a:t>
            </a:r>
            <a:r>
              <a:rPr lang="en-US" altLang="zh-TW" dirty="0" smtClean="0"/>
              <a:t>-Read API To DB</a:t>
            </a:r>
            <a:endParaRPr lang="zh-TW" altLang="en-US" dirty="0"/>
          </a:p>
        </p:txBody>
      </p:sp>
      <p:sp>
        <p:nvSpPr>
          <p:cNvPr id="6" name="內容版面配置區 5"/>
          <p:cNvSpPr txBox="1">
            <a:spLocks/>
          </p:cNvSpPr>
          <p:nvPr/>
        </p:nvSpPr>
        <p:spPr>
          <a:xfrm>
            <a:off x="6638924" y="2021532"/>
            <a:ext cx="2397572" cy="4634434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 err="1" smtClean="0"/>
              <a:t>API_To_DB</a:t>
            </a:r>
            <a:r>
              <a:rPr lang="zh-TW" altLang="en-US" dirty="0" smtClean="0"/>
              <a:t>函式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讀取</a:t>
            </a:r>
            <a:r>
              <a:rPr lang="en-US" altLang="zh-TW" dirty="0"/>
              <a:t>API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寫入</a:t>
            </a:r>
            <a:r>
              <a:rPr lang="zh-TW" altLang="en-US" dirty="0"/>
              <a:t>資料庫</a:t>
            </a: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關閉</a:t>
            </a:r>
            <a:r>
              <a:rPr lang="zh-TW" altLang="en-US" dirty="0"/>
              <a:t>資料庫連線</a:t>
            </a: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021532"/>
            <a:ext cx="6408712" cy="4719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317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/>
          <a:lstStyle/>
          <a:p>
            <a:r>
              <a:rPr lang="zh-TW" altLang="en-US" dirty="0" smtClean="0"/>
              <a:t>程式說明</a:t>
            </a:r>
            <a:r>
              <a:rPr lang="en-US" altLang="zh-TW" dirty="0" smtClean="0"/>
              <a:t>-</a:t>
            </a:r>
            <a:r>
              <a:rPr lang="zh-TW" altLang="en-US" dirty="0" smtClean="0"/>
              <a:t>精確查詢</a:t>
            </a:r>
            <a:endParaRPr lang="zh-TW" altLang="en-US" dirty="0"/>
          </a:p>
        </p:txBody>
      </p:sp>
      <p:sp>
        <p:nvSpPr>
          <p:cNvPr id="5" name="內容版面配置區 5"/>
          <p:cNvSpPr txBox="1">
            <a:spLocks/>
          </p:cNvSpPr>
          <p:nvPr/>
        </p:nvSpPr>
        <p:spPr>
          <a:xfrm>
            <a:off x="5724128" y="1283704"/>
            <a:ext cx="3105671" cy="5529671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TW" dirty="0" smtClean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7" y="1412775"/>
            <a:ext cx="5184575" cy="540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內容版面配置區 5"/>
          <p:cNvSpPr txBox="1">
            <a:spLocks/>
          </p:cNvSpPr>
          <p:nvPr/>
        </p:nvSpPr>
        <p:spPr>
          <a:xfrm>
            <a:off x="5292080" y="1278928"/>
            <a:ext cx="3753744" cy="546244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endParaRPr lang="zh-TW" altLang="en-US" dirty="0"/>
          </a:p>
        </p:txBody>
      </p:sp>
      <p:sp>
        <p:nvSpPr>
          <p:cNvPr id="11" name="內容版面配置區 5"/>
          <p:cNvSpPr txBox="1">
            <a:spLocks/>
          </p:cNvSpPr>
          <p:nvPr/>
        </p:nvSpPr>
        <p:spPr>
          <a:xfrm>
            <a:off x="5292081" y="1422090"/>
            <a:ext cx="3753744" cy="5319278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輸入完整地區</a:t>
            </a:r>
            <a:r>
              <a:rPr lang="zh-TW" altLang="en-US" dirty="0" smtClean="0"/>
              <a:t>名稱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連結資料庫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 smtClean="0"/>
              <a:t>依完整</a:t>
            </a:r>
            <a:r>
              <a:rPr lang="zh-TW" altLang="en-US" dirty="0"/>
              <a:t>地區</a:t>
            </a:r>
            <a:r>
              <a:rPr lang="zh-TW" altLang="en-US" dirty="0" smtClean="0"/>
              <a:t>名稱撈</a:t>
            </a:r>
            <a:r>
              <a:rPr lang="zh-TW" altLang="en-US" dirty="0"/>
              <a:t>取</a:t>
            </a:r>
            <a:r>
              <a:rPr lang="zh-TW" altLang="en-US" dirty="0" smtClean="0"/>
              <a:t>資料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建立和</a:t>
            </a:r>
            <a:r>
              <a:rPr lang="en-US" altLang="zh-TW" dirty="0"/>
              <a:t>append _</a:t>
            </a:r>
            <a:r>
              <a:rPr lang="en-US" altLang="zh-TW" dirty="0" err="1" smtClean="0"/>
              <a:t>sql</a:t>
            </a:r>
            <a:r>
              <a:rPr lang="en-US" altLang="zh-TW" dirty="0" smtClean="0"/>
              <a:t> list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 smtClean="0"/>
              <a:t>產生圖表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關閉</a:t>
            </a:r>
            <a:r>
              <a:rPr lang="zh-TW" altLang="en-US" dirty="0" smtClean="0"/>
              <a:t>資料庫連線</a:t>
            </a: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99570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 smtClean="0"/>
              <a:t>程式圖表</a:t>
            </a:r>
            <a:r>
              <a:rPr lang="zh-TW" altLang="en-US" dirty="0"/>
              <a:t>說明</a:t>
            </a:r>
            <a:r>
              <a:rPr lang="en-US" altLang="zh-TW" dirty="0" smtClean="0"/>
              <a:t>-</a:t>
            </a:r>
            <a:r>
              <a:rPr lang="zh-TW" altLang="en-US" dirty="0" smtClean="0"/>
              <a:t>地區變化</a:t>
            </a:r>
            <a:r>
              <a:rPr lang="zh-TW" altLang="en-US" dirty="0"/>
              <a:t>折線圖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42" y="1951251"/>
            <a:ext cx="8066597" cy="4717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7240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遇到的</a:t>
            </a:r>
            <a:r>
              <a:rPr lang="zh-TW" altLang="en-US" dirty="0" smtClean="0"/>
              <a:t>問題及解決</a:t>
            </a:r>
            <a:r>
              <a:rPr lang="zh-TW" altLang="en-US" dirty="0"/>
              <a:t>的方式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57200" y="2060848"/>
            <a:ext cx="4040188" cy="4299472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/>
              <a:t>儲存中文到</a:t>
            </a:r>
            <a:r>
              <a:rPr lang="en-US" altLang="zh-TW" b="1" dirty="0" err="1" smtClean="0"/>
              <a:t>Json</a:t>
            </a:r>
            <a:r>
              <a:rPr lang="zh-TW" altLang="en-US" b="1" dirty="0"/>
              <a:t>檔</a:t>
            </a:r>
            <a:endParaRPr lang="en-US" altLang="zh-TW" b="1" dirty="0" smtClean="0"/>
          </a:p>
          <a:p>
            <a:pPr marL="0" indent="0">
              <a:buNone/>
            </a:pPr>
            <a:endParaRPr lang="en-US" altLang="zh-TW" b="1" dirty="0" smtClean="0"/>
          </a:p>
          <a:p>
            <a:pPr marL="0" indent="0">
              <a:buNone/>
            </a:pPr>
            <a:endParaRPr lang="en-US" altLang="zh-TW" b="1" dirty="0" smtClean="0"/>
          </a:p>
          <a:p>
            <a:pPr marL="0" indent="0">
              <a:buNone/>
            </a:pPr>
            <a:r>
              <a:rPr lang="zh-TW" altLang="en-US" b="1" dirty="0" smtClean="0"/>
              <a:t>輸出</a:t>
            </a:r>
            <a:r>
              <a:rPr lang="en-US" altLang="zh-TW" b="1" dirty="0" err="1" smtClean="0"/>
              <a:t>Json</a:t>
            </a:r>
            <a:r>
              <a:rPr lang="zh-TW" altLang="en-US" b="1" dirty="0" smtClean="0"/>
              <a:t>縮排</a:t>
            </a:r>
            <a:endParaRPr lang="en-US" altLang="zh-TW" b="1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b="1" dirty="0" smtClean="0"/>
              <a:t>每天</a:t>
            </a:r>
            <a:r>
              <a:rPr lang="zh-TW" altLang="en-US" b="1" dirty="0"/>
              <a:t>固定時間撈取一次資料存到資料庫</a:t>
            </a:r>
            <a:endParaRPr lang="en-US" altLang="zh-TW" b="1" dirty="0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988840"/>
            <a:ext cx="4041775" cy="437148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err="1"/>
              <a:t>ensure_ascii</a:t>
            </a:r>
            <a:r>
              <a:rPr lang="en-US" altLang="zh-TW" dirty="0"/>
              <a:t>=False,</a:t>
            </a:r>
            <a:r>
              <a:rPr lang="zh-TW" altLang="en-US" dirty="0"/>
              <a:t>預設 </a:t>
            </a:r>
            <a:r>
              <a:rPr lang="en-US" altLang="zh-TW" dirty="0" err="1"/>
              <a:t>ensure_ascii</a:t>
            </a:r>
            <a:r>
              <a:rPr lang="en-US" altLang="zh-TW" dirty="0"/>
              <a:t>=True,</a:t>
            </a:r>
            <a:r>
              <a:rPr lang="zh-TW" altLang="en-US" dirty="0"/>
              <a:t>中文會被用</a:t>
            </a:r>
            <a:r>
              <a:rPr lang="en-US" altLang="zh-TW" dirty="0" err="1"/>
              <a:t>unicode</a:t>
            </a:r>
            <a:r>
              <a:rPr lang="zh-TW" altLang="en-US" smtClean="0"/>
              <a:t>編碼</a:t>
            </a:r>
            <a:endParaRPr lang="zh-TW" altLang="en-US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indent=4</a:t>
            </a:r>
            <a:endParaRPr lang="zh-TW" altLang="en-US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自動化排程解決方案</a:t>
            </a:r>
            <a:r>
              <a:rPr lang="en-US" altLang="zh-TW" dirty="0" err="1" smtClean="0"/>
              <a:t>APScheduler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578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Q&amp;A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157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線">
  <a:themeElements>
    <a:clrScheme name="流線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線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線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1409</TotalTime>
  <Words>382</Words>
  <Application>Microsoft Office PowerPoint</Application>
  <PresentationFormat>如螢幕大小 (4:3)</PresentationFormat>
  <Paragraphs>104</Paragraphs>
  <Slides>18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19" baseType="lpstr">
      <vt:lpstr>流線</vt:lpstr>
      <vt:lpstr>作業報告</vt:lpstr>
      <vt:lpstr>選取資料的動機和步驟</vt:lpstr>
      <vt:lpstr>資料來源</vt:lpstr>
      <vt:lpstr>資料來源</vt:lpstr>
      <vt:lpstr>資料來源</vt:lpstr>
      <vt:lpstr>程式說明-套件,函式</vt:lpstr>
      <vt:lpstr>程式說明-取API,儲存JSON檔</vt:lpstr>
      <vt:lpstr>程式說明-關鍵字,範圍查詢</vt:lpstr>
      <vt:lpstr>程式說明-呼叫函式,子圖表</vt:lpstr>
      <vt:lpstr>程式圖表說明-圓點圖</vt:lpstr>
      <vt:lpstr>程式圖表說明-折線圖</vt:lpstr>
      <vt:lpstr>程式圖表說明-長條圖</vt:lpstr>
      <vt:lpstr>程式說明-APScheduler</vt:lpstr>
      <vt:lpstr>程式說明-Read API To DB</vt:lpstr>
      <vt:lpstr>程式說明-精確查詢</vt:lpstr>
      <vt:lpstr>程式圖表說明-地區變化折線圖</vt:lpstr>
      <vt:lpstr>遇到的問題及解決的方式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好事多廣告公司</dc:title>
  <dc:creator>Ben</dc:creator>
  <cp:lastModifiedBy>benhuang</cp:lastModifiedBy>
  <cp:revision>115</cp:revision>
  <dcterms:created xsi:type="dcterms:W3CDTF">2014-04-09T08:50:53Z</dcterms:created>
  <dcterms:modified xsi:type="dcterms:W3CDTF">2025-11-10T07:31:00Z</dcterms:modified>
</cp:coreProperties>
</file>